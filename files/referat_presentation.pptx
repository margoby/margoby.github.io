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9" r:id="rId6"/>
    <p:sldId id="290" r:id="rId7"/>
    <p:sldId id="291" r:id="rId8"/>
    <p:sldId id="293" r:id="rId9"/>
    <p:sldId id="303" r:id="rId10"/>
    <p:sldId id="304" r:id="rId11"/>
    <p:sldId id="305" r:id="rId12"/>
    <p:sldId id="306" r:id="rId13"/>
    <p:sldId id="294" r:id="rId14"/>
    <p:sldId id="295" r:id="rId15"/>
    <p:sldId id="296" r:id="rId16"/>
    <p:sldId id="297" r:id="rId17"/>
    <p:sldId id="298" r:id="rId18"/>
    <p:sldId id="276" r:id="rId19"/>
    <p:sldId id="30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188" y="-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ec6b833f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g1ec6b833f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Титульный слайд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001307" y="287702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 panose="020B0604020202020204"/>
              <a:buNone/>
              <a:defRPr sz="60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001307" y="5356700"/>
            <a:ext cx="9144000" cy="106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477794" y="0"/>
            <a:ext cx="4571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1307" y="622637"/>
            <a:ext cx="3359616" cy="855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Заголовок и объект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856735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5476103" y="42516"/>
            <a:ext cx="6559379" cy="77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  <a:defRPr sz="32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>
            <a:off x="0" y="6532604"/>
            <a:ext cx="12192000" cy="333633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77794" y="0"/>
            <a:ext cx="4571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0190" y="154999"/>
            <a:ext cx="2147767" cy="54673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3887" y="1145224"/>
            <a:ext cx="10892609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Заголовок раздела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Два объекта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Сравнение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Только заголовок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Пустой слайд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Объект с подписью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Рисунок с подписью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Заголовок и вертикальный текст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Вертикальный заголовок и текст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10.xml"/><Relationship Id="rId8" Type="http://schemas.openxmlformats.org/officeDocument/2006/relationships/slide" Target="slide9.xml"/><Relationship Id="rId7" Type="http://schemas.openxmlformats.org/officeDocument/2006/relationships/slide" Target="slide8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3" Type="http://schemas.openxmlformats.org/officeDocument/2006/relationships/slide" Target="slide4.xml"/><Relationship Id="rId2" Type="http://schemas.openxmlformats.org/officeDocument/2006/relationships/slide" Target="slide3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2.xml"/><Relationship Id="rId15" Type="http://schemas.openxmlformats.org/officeDocument/2006/relationships/slide" Target="slide17.xml"/><Relationship Id="rId14" Type="http://schemas.openxmlformats.org/officeDocument/2006/relationships/slide" Target="slide16.xml"/><Relationship Id="rId13" Type="http://schemas.openxmlformats.org/officeDocument/2006/relationships/slide" Target="slide15.xml"/><Relationship Id="rId12" Type="http://schemas.openxmlformats.org/officeDocument/2006/relationships/slide" Target="slide13.xml"/><Relationship Id="rId11" Type="http://schemas.openxmlformats.org/officeDocument/2006/relationships/slide" Target="slide12.xml"/><Relationship Id="rId10" Type="http://schemas.openxmlformats.org/officeDocument/2006/relationships/slide" Target="slide1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slide" Target="slide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63270" y="3393407"/>
            <a:ext cx="11628730" cy="74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sz="20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endParaRPr sz="2000">
              <a:sym typeface="+mn-ea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427878" y="761373"/>
            <a:ext cx="6749987" cy="1012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lt1"/>
                </a:solidFill>
                <a:latin typeface="Segoe UI Light" panose="020B0502040204020203" pitchFamily="34" charset="0"/>
                <a:ea typeface="Times New Roman" panose="02020603050405020304"/>
                <a:cs typeface="Segoe UI Light" panose="020B0502040204020203" pitchFamily="34" charset="0"/>
                <a:sym typeface="Times New Roman" panose="02020603050405020304"/>
              </a:rPr>
              <a:t>ФАКУЛЬТЕТ ПРИКЛАДНОЙ МАТЕМАТИКИ И ИНФОРМАТИКИ</a:t>
            </a:r>
            <a:endParaRPr lang="ru-RU" sz="1800" dirty="0">
              <a:solidFill>
                <a:schemeClr val="lt1"/>
              </a:solidFill>
              <a:latin typeface="Segoe UI Light" panose="020B0502040204020203" pitchFamily="34" charset="0"/>
              <a:ea typeface="Times New Roman" panose="02020603050405020304"/>
              <a:cs typeface="Segoe UI Light" panose="020B0502040204020203" pitchFamily="34" charset="0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Segoe UI Light" panose="020B0502040204020203" pitchFamily="34" charset="0"/>
                <a:ea typeface="Times New Roman" panose="02020603050405020304"/>
                <a:cs typeface="Segoe UI Light" panose="020B0502040204020203" pitchFamily="34" charset="0"/>
                <a:sym typeface="Times New Roman" panose="02020603050405020304"/>
              </a:rPr>
              <a:t>КАФЕДРА ИНФОРМАЦИОННЫХ СИСТЕМ УПРАВЛЕНИЯ</a:t>
            </a:r>
            <a:endParaRPr lang="ru-RU" sz="1800" b="1" dirty="0">
              <a:solidFill>
                <a:schemeClr val="lt1"/>
              </a:solidFill>
              <a:latin typeface="Segoe UI Light" panose="020B0502040204020203" pitchFamily="34" charset="0"/>
              <a:ea typeface="Times New Roman" panose="02020603050405020304"/>
              <a:cs typeface="Segoe UI Light" panose="020B0502040204020203" pitchFamily="34" charset="0"/>
              <a:sym typeface="Times New Roman" panose="020206030504050203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49135" y="2399355"/>
            <a:ext cx="11628730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 Маргарита Дмитриевна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5836142"/>
            <a:ext cx="1162873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5427878" y="791025"/>
            <a:ext cx="0" cy="6793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5203190" y="6183630"/>
            <a:ext cx="564515" cy="32575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185660" y="6182995"/>
            <a:ext cx="572770" cy="32639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Управляющая кнопка: домашняя 1">
            <a:hlinkClick r:id="rId1" action="ppaction://hlinksldjump"/>
          </p:cNvPr>
          <p:cNvSpPr/>
          <p:nvPr/>
        </p:nvSpPr>
        <p:spPr>
          <a:xfrm>
            <a:off x="6021705" y="6183630"/>
            <a:ext cx="909955" cy="32575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97253" y="2734113"/>
            <a:ext cx="3797494" cy="138977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6546215" y="6072505"/>
            <a:ext cx="629285" cy="39243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5561330" y="6077585"/>
            <a:ext cx="563880" cy="38163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522605" y="878840"/>
            <a:ext cx="11669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800"/>
              <a:t>Содержание</a:t>
            </a:r>
            <a:endParaRPr lang="ru-RU" altLang="en-US" sz="2800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523240" y="1233170"/>
            <a:ext cx="11607165" cy="5073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90000"/>
              </a:lnSpc>
            </a:pPr>
            <a:r>
              <a:rPr sz="2400">
                <a:hlinkClick r:id="" action="ppaction://hlinkshowjump?jump=firstslide"/>
              </a:rPr>
              <a:t>Тема</a:t>
            </a:r>
            <a:endParaRPr sz="2400"/>
          </a:p>
          <a:p>
            <a:pPr algn="just">
              <a:lnSpc>
                <a:spcPct val="90000"/>
              </a:lnSpc>
            </a:pPr>
            <a:r>
              <a:rPr sz="2400">
                <a:hlinkClick r:id="rId2" action="ppaction://hlinksldjump"/>
              </a:rPr>
              <a:t>Актуальность</a:t>
            </a:r>
            <a:endParaRPr sz="2400"/>
          </a:p>
          <a:p>
            <a:pPr algn="just">
              <a:lnSpc>
                <a:spcPct val="90000"/>
              </a:lnSpc>
            </a:pPr>
            <a:r>
              <a:rPr sz="2400">
                <a:hlinkClick r:id="rId3" action="ppaction://hlinksldjump"/>
              </a:rPr>
              <a:t>Поставленные цели и задачи</a:t>
            </a:r>
            <a:endParaRPr sz="2400"/>
          </a:p>
          <a:p>
            <a:pPr algn="just">
              <a:lnSpc>
                <a:spcPct val="90000"/>
              </a:lnSpc>
            </a:pPr>
            <a:r>
              <a:rPr sz="2400">
                <a:hlinkClick r:id="rId4" action="ppaction://hlinksldjump"/>
              </a:rPr>
              <a:t>Объект и предмет исследования</a:t>
            </a:r>
            <a:endParaRPr sz="2400"/>
          </a:p>
          <a:p>
            <a:pPr algn="just">
              <a:lnSpc>
                <a:spcPct val="90000"/>
              </a:lnSpc>
              <a:buSzTx/>
            </a:pPr>
            <a:r>
              <a:rPr sz="2400">
                <a:sym typeface="+mn-ea"/>
                <a:hlinkClick r:id="rId5" tooltip="" action="ppaction://hlinksldjump"/>
              </a:rPr>
              <a:t>Распознавание эмоций по лицу</a:t>
            </a:r>
            <a:endParaRPr sz="2400"/>
          </a:p>
          <a:p>
            <a:pPr algn="just">
              <a:lnSpc>
                <a:spcPct val="90000"/>
              </a:lnSpc>
              <a:buSzTx/>
            </a:pPr>
            <a:r>
              <a:rPr lang="ru-RU" altLang="en-US" sz="2400">
                <a:solidFill>
                  <a:schemeClr val="tx1"/>
                </a:solidFill>
                <a:sym typeface="+mn-ea"/>
                <a:hlinkClick r:id="rId6" tooltip="" action="ppaction://hlinksldjump"/>
              </a:rPr>
              <a:t>Распознавание эмоций по речи</a:t>
            </a:r>
            <a:endParaRPr lang="ru-RU" altLang="en-US" sz="2400">
              <a:solidFill>
                <a:schemeClr val="tx1"/>
              </a:solidFill>
              <a:sym typeface="+mn-ea"/>
            </a:endParaRPr>
          </a:p>
          <a:p>
            <a:pPr algn="just">
              <a:lnSpc>
                <a:spcPct val="90000"/>
              </a:lnSpc>
              <a:buSzTx/>
            </a:pPr>
            <a:r>
              <a:rPr lang="ru-RU" altLang="en-US" sz="2400">
                <a:solidFill>
                  <a:schemeClr val="tx1"/>
                </a:solidFill>
                <a:sym typeface="+mn-ea"/>
                <a:hlinkClick r:id="rId7" tooltip="" action="ppaction://hlinksldjump"/>
              </a:rPr>
              <a:t>Распознавание эмоций по тексту</a:t>
            </a:r>
            <a:endParaRPr lang="ru-RU" altLang="en-US" sz="2400">
              <a:solidFill>
                <a:schemeClr val="tx1"/>
              </a:solidFill>
              <a:sym typeface="+mn-ea"/>
            </a:endParaRPr>
          </a:p>
          <a:p>
            <a:pPr algn="just">
              <a:lnSpc>
                <a:spcPct val="90000"/>
              </a:lnSpc>
              <a:buSzTx/>
            </a:pPr>
            <a:r>
              <a:rPr lang="ru-RU" altLang="en-US" sz="2400">
                <a:solidFill>
                  <a:schemeClr val="tx1"/>
                </a:solidFill>
                <a:sym typeface="+mn-ea"/>
                <a:hlinkClick r:id="rId8" tooltip="" action="ppaction://hlinksldjump"/>
              </a:rPr>
              <a:t>Мультимодальное распознавание эмоций</a:t>
            </a:r>
            <a:endParaRPr sz="2400"/>
          </a:p>
          <a:p>
            <a:pPr algn="just">
              <a:lnSpc>
                <a:spcPct val="90000"/>
              </a:lnSpc>
              <a:buSzTx/>
            </a:pPr>
            <a:r>
              <a:rPr lang="ru-RU" altLang="en-US" sz="2400">
                <a:solidFill>
                  <a:schemeClr val="tx1"/>
                </a:solidFill>
                <a:sym typeface="+mn-ea"/>
                <a:hlinkClick r:id="rId9" tooltip="" action="ppaction://hlinksldjump"/>
              </a:rPr>
              <a:t>Применение в HCI</a:t>
            </a:r>
            <a:endParaRPr lang="ru-RU" altLang="en-US" sz="2400">
              <a:solidFill>
                <a:schemeClr val="tx1"/>
              </a:solidFill>
              <a:sym typeface="+mn-ea"/>
            </a:endParaRPr>
          </a:p>
          <a:p>
            <a:pPr algn="just">
              <a:lnSpc>
                <a:spcPct val="90000"/>
              </a:lnSpc>
              <a:buSzTx/>
            </a:pPr>
            <a:r>
              <a:rPr sz="2400">
                <a:sym typeface="+mn-ea"/>
                <a:hlinkClick r:id="rId10" tooltip="" action="ppaction://hlinksldjump"/>
              </a:rPr>
              <a:t>Проблемы и ограничения</a:t>
            </a:r>
            <a:endParaRPr sz="2400">
              <a:sym typeface="+mn-ea"/>
            </a:endParaRPr>
          </a:p>
          <a:p>
            <a:pPr algn="just">
              <a:lnSpc>
                <a:spcPct val="90000"/>
              </a:lnSpc>
              <a:buSzTx/>
            </a:pPr>
            <a:r>
              <a:rPr lang="ru-RU" altLang="en-US" sz="2400">
                <a:sym typeface="+mn-ea"/>
                <a:hlinkClick r:id="rId11" tooltip="" action="ppaction://hlinksldjump"/>
              </a:rPr>
              <a:t>Методика исследования</a:t>
            </a:r>
            <a:endParaRPr lang="ru-RU" altLang="en-US" sz="2400">
              <a:sym typeface="+mn-ea"/>
            </a:endParaRPr>
          </a:p>
          <a:p>
            <a:pPr algn="just">
              <a:lnSpc>
                <a:spcPct val="90000"/>
              </a:lnSpc>
              <a:buSzTx/>
            </a:pPr>
            <a:r>
              <a:rPr sz="2400">
                <a:sym typeface="+mn-ea"/>
                <a:hlinkClick r:id="rId12" tooltip="" action="ppaction://hlinksldjump"/>
              </a:rPr>
              <a:t>Результаты исследования</a:t>
            </a:r>
            <a:endParaRPr sz="2400">
              <a:sym typeface="+mn-ea"/>
            </a:endParaRPr>
          </a:p>
          <a:p>
            <a:pPr algn="just">
              <a:lnSpc>
                <a:spcPct val="90000"/>
              </a:lnSpc>
            </a:pPr>
            <a:r>
              <a:rPr lang="ru-RU" altLang="en-US" sz="2400">
                <a:sym typeface="+mn-ea"/>
                <a:hlinkClick r:id="rId13" tooltip="" action="ppaction://hlinksldjump"/>
              </a:rPr>
              <a:t>Заключение</a:t>
            </a:r>
            <a:endParaRPr lang="ru-RU" altLang="en-US" sz="2400">
              <a:sym typeface="+mn-ea"/>
            </a:endParaRPr>
          </a:p>
          <a:p>
            <a:pPr algn="just">
              <a:lnSpc>
                <a:spcPct val="90000"/>
              </a:lnSpc>
            </a:pPr>
            <a:r>
              <a:rPr lang="ru-RU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14" tooltip="" action="ppaction://hlinksldjump"/>
              </a:rPr>
              <a:t>Публикации автора</a:t>
            </a:r>
            <a:endParaRPr lang="ru-RU" altLang="en-US" sz="2400"/>
          </a:p>
          <a:p>
            <a:pPr algn="just">
              <a:lnSpc>
                <a:spcPct val="90000"/>
              </a:lnSpc>
            </a:pPr>
            <a:r>
              <a:rPr sz="2400">
                <a:hlinkClick r:id="rId15" tooltip="" action="ppaction://hlinksldjump"/>
              </a:rPr>
              <a:t>Спасибо за внимание</a:t>
            </a:r>
            <a:endParaRPr lang="ru-RU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97253" y="2734113"/>
            <a:ext cx="3797494" cy="138977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2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909320"/>
            <a:ext cx="11668760" cy="38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sz="3600">
                <a:sym typeface="+mn-ea"/>
              </a:rPr>
              <a:t>Актуальность исследования</a:t>
            </a:r>
            <a:endParaRPr sz="3600">
              <a:sym typeface="+mn-ea"/>
            </a:endParaRPr>
          </a:p>
          <a:p>
            <a:endParaRPr lang="ru-RU" altLang="en-US" sz="3000"/>
          </a:p>
          <a:p>
            <a:pPr marL="457200" indent="-457200">
              <a:buFont typeface="Arial" panose="02080604020202020204" pitchFamily="34" charset="0"/>
              <a:buChar char="•"/>
            </a:pPr>
            <a:r>
              <a:rPr sz="3000">
                <a:sym typeface="+mn-ea"/>
              </a:rPr>
              <a:t>Эмоции — ключ к эффективному HCI и UX.</a:t>
            </a:r>
            <a:endParaRPr lang="ru-RU" altLang="en-US" sz="3000"/>
          </a:p>
          <a:p>
            <a:pPr marL="457200" indent="-457200">
              <a:buFont typeface="Arial" panose="02080604020202020204" pitchFamily="34" charset="0"/>
              <a:buChar char="•"/>
            </a:pPr>
            <a:r>
              <a:rPr sz="3000">
                <a:sym typeface="+mn-ea"/>
              </a:rPr>
              <a:t>Рост интереса к глубокому обучению и мультимодальным решениям.</a:t>
            </a:r>
            <a:endParaRPr lang="ru-RU" altLang="en-US" sz="3000"/>
          </a:p>
          <a:p>
            <a:pPr marL="457200" indent="-457200">
              <a:buFont typeface="Arial" panose="02080604020202020204" pitchFamily="34" charset="0"/>
              <a:buChar char="•"/>
            </a:pPr>
            <a:r>
              <a:rPr sz="3000">
                <a:sym typeface="+mn-ea"/>
              </a:rPr>
              <a:t>40% ИИ-систем к 2027 г. будут мультимодальными (Gartner).</a:t>
            </a:r>
            <a:endParaRPr lang="ru-RU" altLang="en-US" sz="3000"/>
          </a:p>
          <a:p>
            <a:pPr marL="457200" indent="-457200">
              <a:buFont typeface="Arial" panose="02080604020202020204" pitchFamily="34" charset="0"/>
              <a:buChar char="•"/>
            </a:pPr>
            <a:r>
              <a:rPr sz="3000">
                <a:sym typeface="+mn-ea"/>
              </a:rPr>
              <a:t>Точность распознавания эмоций в реальных условиях остаётся проблемной.</a:t>
            </a:r>
            <a:endParaRPr lang="ru-RU" altLang="en-US"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4769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 sz="3200"/>
              <a:t>Цель исследования</a:t>
            </a:r>
            <a:endParaRPr lang="ru-RU" altLang="en-US" sz="3200"/>
          </a:p>
          <a:p>
            <a:endParaRPr lang="ru-RU" altLang="en-US" sz="2400"/>
          </a:p>
          <a:p>
            <a:r>
              <a:rPr lang="ru-RU" altLang="en-US" sz="2400"/>
              <a:t>Комплексный анализ современных технологий распознавания эмоций и оценка их применимости, ограничений и перспектив в HCI.</a:t>
            </a:r>
            <a:endParaRPr lang="ru-RU" altLang="en-US" sz="2400"/>
          </a:p>
          <a:p>
            <a:endParaRPr lang="ru-RU" altLang="en-US" sz="2400"/>
          </a:p>
          <a:p>
            <a:pPr algn="ctr"/>
            <a:r>
              <a:rPr lang="ru-RU" altLang="en-US" sz="3200"/>
              <a:t>Задачи исследования</a:t>
            </a:r>
            <a:endParaRPr lang="ru-RU" altLang="en-US" sz="3200"/>
          </a:p>
          <a:p>
            <a:endParaRPr lang="ru-RU" altLang="en-US" sz="240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400"/>
              <a:t>Исследовать методы и нейросетевые архитектуры для распознавания эмоций (FER, SER, AER, MER).</a:t>
            </a:r>
            <a:endParaRPr lang="ru-RU" altLang="en-US" sz="240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400"/>
              <a:t>Оценить точность и применимость технологий в реальных условиях.</a:t>
            </a:r>
            <a:endParaRPr lang="ru-RU" altLang="en-US" sz="240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400"/>
              <a:t>Выявить технологические барьеры и перспективные направления развития эмоционального ИИ.</a:t>
            </a:r>
            <a:endParaRPr lang="ru-RU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4338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 sz="4000"/>
              <a:t>Объект исследования</a:t>
            </a:r>
            <a:endParaRPr lang="ru-RU" altLang="en-US" sz="4000"/>
          </a:p>
          <a:p>
            <a:pPr algn="ctr"/>
            <a:endParaRPr lang="ru-RU" altLang="en-US" sz="2800"/>
          </a:p>
          <a:p>
            <a:pPr algn="ctr"/>
            <a:r>
              <a:rPr lang="ru-RU" altLang="en-US" sz="2800"/>
              <a:t>Методы, нейросетевые архитектуры и системы распознавания эмоциональных состояний человека.</a:t>
            </a:r>
            <a:endParaRPr lang="ru-RU" altLang="en-US" sz="2800"/>
          </a:p>
          <a:p>
            <a:pPr algn="ctr"/>
            <a:endParaRPr lang="ru-RU" altLang="en-US" sz="2800"/>
          </a:p>
          <a:p>
            <a:pPr algn="ctr"/>
            <a:r>
              <a:rPr lang="ru-RU" altLang="en-US" sz="4000"/>
              <a:t>Предмет исследования</a:t>
            </a:r>
            <a:endParaRPr lang="ru-RU" altLang="en-US" sz="2800"/>
          </a:p>
          <a:p>
            <a:pPr algn="ctr"/>
            <a:endParaRPr lang="ru-RU" altLang="en-US" sz="2800"/>
          </a:p>
          <a:p>
            <a:pPr algn="ctr"/>
            <a:r>
              <a:rPr lang="ru-RU" altLang="en-US" sz="2800"/>
              <a:t>Процессы анализа эмоций по визуальным (FER), аудио (SER), текстовым (AER) и мультимодальным (MER) данным, а также их применимость в HCI.</a:t>
            </a:r>
            <a:endParaRPr lang="ru-RU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2605" y="898525"/>
            <a:ext cx="1166939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3200" b="1">
                <a:sym typeface="+mn-ea"/>
              </a:rPr>
              <a:t>FER — Распознавание эмоций по лицу</a:t>
            </a:r>
            <a:endParaRPr lang="ru-RU" altLang="en-US" sz="3200" b="1"/>
          </a:p>
          <a:p>
            <a:endParaRPr lang="ru-RU" altLang="en-US" sz="3200" b="1"/>
          </a:p>
        </p:txBody>
      </p:sp>
      <p:graphicFrame>
        <p:nvGraphicFramePr>
          <p:cNvPr id="8" name="Таблица 7"/>
          <p:cNvGraphicFramePr/>
          <p:nvPr/>
        </p:nvGraphicFramePr>
        <p:xfrm>
          <a:off x="522605" y="1637030"/>
          <a:ext cx="11607800" cy="374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00"/>
                <a:gridCol w="5803900"/>
              </a:tblGrid>
              <a:tr h="37465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800">
                          <a:solidFill>
                            <a:schemeClr val="tx1"/>
                          </a:solidFill>
                          <a:sym typeface="+mn-ea"/>
                        </a:rPr>
                        <a:t>Подходы:</a:t>
                      </a:r>
                      <a:endParaRPr lang="ru-RU" altLang="en-US" sz="24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400" b="0">
                          <a:solidFill>
                            <a:schemeClr val="tx1"/>
                          </a:solidFill>
                          <a:sym typeface="+mn-ea"/>
                        </a:rPr>
                        <a:t>Гибридные: CNN + Transformer + SVM</a:t>
                      </a:r>
                      <a:endParaRPr lang="ru-RU" altLang="en-US" sz="24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400" b="0">
                          <a:solidFill>
                            <a:schemeClr val="tx1"/>
                          </a:solidFill>
                          <a:sym typeface="+mn-ea"/>
                        </a:rPr>
                        <a:t>Семантика ключевых зон лица (NKF)</a:t>
                      </a:r>
                      <a:endParaRPr lang="ru-RU" altLang="en-US" sz="24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ru-RU" altLang="en-US" sz="24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ru-RU" altLang="en-US" sz="2800">
                          <a:solidFill>
                            <a:schemeClr val="tx1"/>
                          </a:solidFill>
                          <a:sym typeface="+mn-ea"/>
                        </a:rPr>
                        <a:t>Результаты:</a:t>
                      </a:r>
                      <a:endParaRPr lang="ru-RU" altLang="en-US" sz="24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400" b="0">
                          <a:solidFill>
                            <a:schemeClr val="tx1"/>
                          </a:solidFill>
                          <a:sym typeface="+mn-ea"/>
                        </a:rPr>
                        <a:t>Семантика зон превосходит гибриды в реальных условиях</a:t>
                      </a:r>
                      <a:endParaRPr lang="ru-RU" altLang="en-US" sz="24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400" b="0">
                          <a:solidFill>
                            <a:schemeClr val="tx1"/>
                          </a:solidFill>
                          <a:sym typeface="+mn-ea"/>
                        </a:rPr>
                        <a:t>Точность: RAF-DB ~93%, AffectNet ~65%</a:t>
                      </a:r>
                      <a:endParaRPr lang="ru-RU" alt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800">
                          <a:solidFill>
                            <a:schemeClr val="tx1"/>
                          </a:solidFill>
                          <a:sym typeface="+mn-ea"/>
                        </a:rPr>
                        <a:t>Проблемы:</a:t>
                      </a:r>
                      <a:endParaRPr lang="ru-RU" altLang="en-US" sz="24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400" b="0">
                          <a:solidFill>
                            <a:schemeClr val="tx1"/>
                          </a:solidFill>
                          <a:sym typeface="+mn-ea"/>
                        </a:rPr>
                        <a:t>Освещение, позы, окклюзии</a:t>
                      </a:r>
                      <a:endParaRPr lang="ru-RU" altLang="en-US" sz="24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400" b="0">
                          <a:solidFill>
                            <a:schemeClr val="tx1"/>
                          </a:solidFill>
                          <a:sym typeface="+mn-ea"/>
                        </a:rPr>
                        <a:t>Дисбаланс классов</a:t>
                      </a:r>
                      <a:endParaRPr lang="ru-RU" altLang="en-US" sz="24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400" b="0">
                          <a:solidFill>
                            <a:schemeClr val="tx1"/>
                          </a:solidFill>
                          <a:sym typeface="+mn-ea"/>
                        </a:rPr>
                        <a:t>Высокая вычислительная нагрузка</a:t>
                      </a:r>
                      <a:endParaRPr lang="ru-RU" altLang="en-US" sz="24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None/>
                      </a:pPr>
                      <a:endParaRPr lang="ru-RU" altLang="en-US" sz="24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ru-RU" altLang="en-US" sz="2800">
                          <a:solidFill>
                            <a:schemeClr val="tx1"/>
                          </a:solidFill>
                          <a:sym typeface="+mn-ea"/>
                        </a:rPr>
                        <a:t>Тренды:</a:t>
                      </a:r>
                      <a:endParaRPr lang="ru-RU" altLang="en-US" sz="24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400" b="0">
                          <a:solidFill>
                            <a:schemeClr val="tx1"/>
                          </a:solidFill>
                          <a:sym typeface="+mn-ea"/>
                        </a:rPr>
                        <a:t>Оптимизация для мобильных</a:t>
                      </a:r>
                      <a:endParaRPr lang="ru-RU" altLang="en-US" sz="24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400" b="0">
                          <a:solidFill>
                            <a:schemeClr val="tx1"/>
                          </a:solidFill>
                          <a:sym typeface="+mn-ea"/>
                        </a:rPr>
                        <a:t>Устойчивость к окклюзиям и позам</a:t>
                      </a:r>
                      <a:endParaRPr lang="ru-RU" altLang="en-US" sz="24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400" b="0">
                          <a:solidFill>
                            <a:schemeClr val="tx1"/>
                          </a:solidFill>
                          <a:sym typeface="+mn-ea"/>
                        </a:rPr>
                        <a:t>Мультимодальные системы</a:t>
                      </a:r>
                      <a:endParaRPr lang="ru-RU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2605" y="898525"/>
            <a:ext cx="116693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3200" b="1">
                <a:solidFill>
                  <a:schemeClr val="tx1"/>
                </a:solidFill>
                <a:sym typeface="+mn-ea"/>
              </a:rPr>
              <a:t>SER — Распознавание эмоций по речи</a:t>
            </a:r>
            <a:endParaRPr lang="ru-RU" altLang="en-US" sz="3200" b="1"/>
          </a:p>
        </p:txBody>
      </p:sp>
      <p:graphicFrame>
        <p:nvGraphicFramePr>
          <p:cNvPr id="8" name="Таблица 7"/>
          <p:cNvGraphicFramePr/>
          <p:nvPr/>
        </p:nvGraphicFramePr>
        <p:xfrm>
          <a:off x="522605" y="1576705"/>
          <a:ext cx="1160780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00"/>
                <a:gridCol w="5803900"/>
              </a:tblGrid>
              <a:tr h="399288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800">
                          <a:solidFill>
                            <a:schemeClr val="tx1"/>
                          </a:solidFill>
                          <a:sym typeface="+mn-ea"/>
                        </a:rPr>
                        <a:t>Подходы:</a:t>
                      </a:r>
                      <a:endParaRPr lang="ru-RU" altLang="en-US" sz="28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  <a:sym typeface="+mn-ea"/>
                        </a:rPr>
                        <a:t>Гибридные CNN + LSTM / BiLSTM + внимание</a:t>
                      </a:r>
                      <a:endParaRPr lang="ru-RU" altLang="en-US" sz="20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  <a:sym typeface="+mn-ea"/>
                        </a:rPr>
                        <a:t>Предобученные модели SSL: Wav2vec2.0, WavLM</a:t>
                      </a:r>
                      <a:endParaRPr lang="ru-RU" altLang="en-US" sz="20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  <a:sym typeface="+mn-ea"/>
                        </a:rPr>
                        <a:t>Мультимодальные ансамбли (аудио + текст, например Abhinaya)</a:t>
                      </a:r>
                      <a:endParaRPr lang="ru-RU" altLang="en-US" sz="20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indent="0">
                        <a:buFont typeface="Arial" panose="02080604020202020204" pitchFamily="34" charset="0"/>
                        <a:buNone/>
                      </a:pPr>
                      <a:endParaRPr lang="ru-RU" altLang="en-US" sz="2000" b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indent="0">
                        <a:buFont typeface="Arial" panose="02080604020202020204" pitchFamily="34" charset="0"/>
                        <a:buNone/>
                      </a:pPr>
                      <a:r>
                        <a:rPr lang="ru-RU" altLang="en-US" sz="2800">
                          <a:solidFill>
                            <a:schemeClr val="tx1"/>
                          </a:solidFill>
                        </a:rPr>
                        <a:t>Результаты:</a:t>
                      </a:r>
                      <a:endParaRPr lang="ru-RU" altLang="en-US" sz="28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точность до 98% на контролируемых данных  macro-F1 ~44% на реальных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NCDE + Wav2vec2.0: стабильность и быстрая сходимость (~73% WA)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marL="342900" indent="-342900">
                        <a:buNone/>
                      </a:pPr>
                      <a:r>
                        <a:rPr lang="ru-RU" altLang="en-US" sz="2800">
                          <a:solidFill>
                            <a:schemeClr val="tx1"/>
                          </a:solidFill>
                        </a:rPr>
                        <a:t>Проблемы:</a:t>
                      </a:r>
                      <a:endParaRPr lang="ru-RU" altLang="en-US" sz="28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Высокая вариативность речи и шум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Дисбаланс классов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Вычислительная сложность 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80604020202020204" pitchFamily="34" charset="0"/>
                        <a:buNone/>
                      </a:pP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None/>
                      </a:pPr>
                      <a:r>
                        <a:rPr lang="ru-RU" altLang="en-US" sz="2800">
                          <a:solidFill>
                            <a:schemeClr val="tx1"/>
                          </a:solidFill>
                        </a:rPr>
                        <a:t>Тренды:</a:t>
                      </a:r>
                      <a:endParaRPr lang="ru-RU" altLang="en-US" sz="28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Работа с «натуралистичными» данными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Расширенная мультимодальность (аудио + текст + видео)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Лёгкие и устойчивые модели для практического HCI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2605" y="898525"/>
            <a:ext cx="116693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3200" b="1">
                <a:solidFill>
                  <a:schemeClr val="tx1"/>
                </a:solidFill>
                <a:sym typeface="+mn-ea"/>
              </a:rPr>
              <a:t>AER — Распознавание эмоций по тексту</a:t>
            </a:r>
            <a:endParaRPr lang="ru-RU" altLang="en-US" sz="3200" b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8" name="Таблица 7"/>
          <p:cNvGraphicFramePr/>
          <p:nvPr/>
        </p:nvGraphicFramePr>
        <p:xfrm>
          <a:off x="523875" y="1576705"/>
          <a:ext cx="11606530" cy="3952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265"/>
                <a:gridCol w="5803265"/>
              </a:tblGrid>
              <a:tr h="395287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Подходы: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Трансформеры: BERT, RoBERTa, XLM-RoBERTa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Гибриды: трансформер + CNN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Адаптеры для низкоресурсных языков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80604020202020204" pitchFamily="34" charset="0"/>
                        <a:buNone/>
                      </a:pP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Результаты: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Высокая точность на одноязычных данных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Параметро-эффективные модели лучше для многоязычных и низкоресурсных задач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Контекстное обогащение повышает распознавание сложных эмоций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marL="342900" indent="-342900"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Проблемы: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Сарказм, ирония, редкие эмоции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Падение точности при переносе на новые языки и домены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80604020202020204" pitchFamily="34" charset="0"/>
                        <a:buNone/>
                      </a:pP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80604020202020204" pitchFamily="34" charset="0"/>
                        <a:buNone/>
                      </a:pP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Тренды: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Многоязычные и междоменные модели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Контекстное и семантическое обогащение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Усиление интерпретируемости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2605" y="898525"/>
            <a:ext cx="116693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3200" b="1">
                <a:solidFill>
                  <a:schemeClr val="tx1"/>
                </a:solidFill>
                <a:sym typeface="+mn-ea"/>
              </a:rPr>
              <a:t>MER — Мультимодальное распознавание эмоций</a:t>
            </a:r>
            <a:endParaRPr lang="ru-RU" altLang="en-US" sz="3200" b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8" name="Таблица 7"/>
          <p:cNvGraphicFramePr/>
          <p:nvPr/>
        </p:nvGraphicFramePr>
        <p:xfrm>
          <a:off x="523875" y="1482090"/>
          <a:ext cx="11606530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265"/>
                <a:gridCol w="5803265"/>
              </a:tblGrid>
              <a:tr h="417576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Подходы: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Объединение визуальных, аудио и текстовых данных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Мультимодальные LLM: классификация + объяснение эмоций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Адаптация: zero-/few-shot prompting или fine-tuning (PET/LoRA)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None/>
                      </a:pP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Результаты: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Более точное и контекстное понимание эмоций, чем у унимодальных моделей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Поддержка когнитивного аффективного рассуждения в HCI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marL="342900" indent="-342900"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Проблемы: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Недостаток крупномасштабных мультимодальных датасетов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Асинхронность сигналов и динамика эмоций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Интерпретируемость и адаптация к мобильным/носимым устройствам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None/>
                      </a:pP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Тренды: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Психологически обоснованные модели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Контекстуализация и моделирование динамики эмоций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2000" b="0">
                          <a:solidFill>
                            <a:schemeClr val="tx1"/>
                          </a:solidFill>
                        </a:rPr>
                        <a:t>Создание высококачественных мультимодальных ресурсов</a:t>
                      </a:r>
                      <a:endParaRPr lang="ru-RU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2605" y="898525"/>
            <a:ext cx="116693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400" b="1">
                <a:solidFill>
                  <a:schemeClr val="tx1"/>
                </a:solidFill>
                <a:sym typeface="+mn-ea"/>
              </a:rPr>
              <a:t>HCI — Мультимодальное распознавание эмоций в человеко-компьютерном взаимодействии</a:t>
            </a:r>
            <a:endParaRPr lang="ru-RU" altLang="en-US" sz="2400" b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8" name="Таблица 7"/>
          <p:cNvGraphicFramePr/>
          <p:nvPr/>
        </p:nvGraphicFramePr>
        <p:xfrm>
          <a:off x="523240" y="1823720"/>
          <a:ext cx="11607800" cy="3777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00"/>
                <a:gridCol w="5803900"/>
              </a:tblGrid>
              <a:tr h="3777615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Подходы: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Эмоционально-чувствительные интерфейсы: MER + MLLM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Слияние визуальных, аудио и текстовых данных (CLIP: VEGA vs MER-CLIP)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Параметро-эффективная настройка и самообучение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80604020202020204" pitchFamily="34" charset="0"/>
                        <a:buNone/>
                      </a:pP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Результаты: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Устойчивость к отсутствию отдельных каналов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Более точная интерпретация эмоций и контекста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Поддержка мультимодальных и семантически адаптивных систем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marL="342900" indent="-342900"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Проблемы: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Асинхронность сигналов и микродинамика эмоций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«Семантический разрыв» контекстных эмоций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Нехватка масштабных сбалансированных датасетов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Ограниченная интерпретируемость и высокая вычислительная сложность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None/>
                      </a:pPr>
                      <a:r>
                        <a:rPr lang="ru-RU" altLang="en-US" sz="2400" b="1">
                          <a:solidFill>
                            <a:schemeClr val="tx1"/>
                          </a:solidFill>
                        </a:rPr>
                        <a:t>Тренды:</a:t>
                      </a:r>
                      <a:endParaRPr lang="ru-RU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Иерархические и причинно-следственные архитектуры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Психологически обоснованные представления эмоций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800" b="0">
                          <a:solidFill>
                            <a:schemeClr val="tx1"/>
                          </a:solidFill>
                        </a:rPr>
                        <a:t>Интеграция MER с крупными мультимодальными моделями</a:t>
                      </a:r>
                      <a:endParaRPr lang="ru-RU" altLang="en-US" sz="1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3875" y="898525"/>
            <a:ext cx="116693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 b="1">
                <a:sym typeface="+mn-ea"/>
              </a:rPr>
              <a:t>Проблемы и ограничения современных ИТ распознавания эмоций</a:t>
            </a:r>
            <a:endParaRPr sz="2400" b="1">
              <a:sym typeface="+mn-ea"/>
            </a:endParaRPr>
          </a:p>
        </p:txBody>
      </p:sp>
      <p:graphicFrame>
        <p:nvGraphicFramePr>
          <p:cNvPr id="9" name="Таблица 8"/>
          <p:cNvGraphicFramePr/>
          <p:nvPr/>
        </p:nvGraphicFramePr>
        <p:xfrm>
          <a:off x="522605" y="1358900"/>
          <a:ext cx="11607800" cy="3531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00"/>
                <a:gridCol w="5803900"/>
              </a:tblGrid>
              <a:tr h="3032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sz="2200" b="1">
                          <a:solidFill>
                            <a:schemeClr val="tx1"/>
                          </a:solidFill>
                        </a:rPr>
                        <a:t>Общие ограничения:</a:t>
                      </a:r>
                      <a:endParaRPr lang="ru-RU" altLang="en-US" sz="22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900" b="0">
                          <a:solidFill>
                            <a:schemeClr val="tx1"/>
                          </a:solidFill>
                        </a:rPr>
                        <a:t>Высокие показатели на контролируемых данных vs низкая точность «in-the-wild»</a:t>
                      </a: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900" b="0">
                          <a:solidFill>
                            <a:schemeClr val="tx1"/>
                          </a:solidFill>
                        </a:rPr>
                        <a:t>Недостаточное семантическое и каузальное моделирование</a:t>
                      </a: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900" b="0">
                          <a:solidFill>
                            <a:schemeClr val="tx1"/>
                          </a:solidFill>
                        </a:rPr>
                        <a:t>Асинхронность и дисбаланс модальностей в MER</a:t>
                      </a: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900" b="0">
                          <a:solidFill>
                            <a:schemeClr val="tx1"/>
                          </a:solidFill>
                        </a:rPr>
                        <a:t>Ограниченная интерпретируемость и практическая применимость</a:t>
                      </a: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900" b="0">
                          <a:solidFill>
                            <a:schemeClr val="tx1"/>
                          </a:solidFill>
                        </a:rPr>
                        <a:t>Культурная предвзятость и нерепрезентативность данных</a:t>
                      </a: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marL="342900" indent="-342900" algn="ctr">
                        <a:buNone/>
                      </a:pPr>
                      <a:r>
                        <a:rPr lang="ru-RU" altLang="en-US" sz="2200" b="1">
                          <a:solidFill>
                            <a:schemeClr val="tx1"/>
                          </a:solidFill>
                        </a:rPr>
                        <a:t>Архитектурные и технологические ограничения:</a:t>
                      </a:r>
                      <a:endParaRPr lang="ru-RU" altLang="en-US" sz="2200" b="1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900" b="0">
                          <a:solidFill>
                            <a:schemeClr val="tx1"/>
                          </a:solidFill>
                        </a:rPr>
                        <a:t>Дальнейшее усложнение моделей не гарантирует рост качества</a:t>
                      </a: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900" b="0">
                          <a:solidFill>
                            <a:schemeClr val="tx1"/>
                          </a:solidFill>
                        </a:rPr>
                        <a:t>Высокие вычислительные затраты: FER ~5–10 GFLOPs, мультимодальные MLLM сотни млн–млрд параметров</a:t>
                      </a: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80604020202020204" pitchFamily="34" charset="0"/>
                        <a:buChar char="•"/>
                      </a:pPr>
                      <a:r>
                        <a:rPr lang="ru-RU" altLang="en-US" sz="1900" b="0">
                          <a:solidFill>
                            <a:schemeClr val="tx1"/>
                          </a:solidFill>
                        </a:rPr>
                        <a:t>Отсутствие лёгких и мобильных решений для реального времени</a:t>
                      </a: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99110">
                <a:tc>
                  <a:txBody>
                    <a:bodyPr/>
                    <a:p>
                      <a:pPr marL="0" indent="0">
                        <a:buFont typeface="Arial" panose="02080604020202020204" pitchFamily="34" charset="0"/>
                        <a:buNone/>
                      </a:pP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marL="342900" indent="-342900">
                        <a:buNone/>
                      </a:pPr>
                      <a:endParaRPr lang="ru-RU" altLang="en-US" sz="1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0" name="Текстовое поле 9"/>
          <p:cNvSpPr txBox="1"/>
          <p:nvPr/>
        </p:nvSpPr>
        <p:spPr>
          <a:xfrm>
            <a:off x="523875" y="4426585"/>
            <a:ext cx="11607165" cy="1045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ctr">
              <a:buNone/>
            </a:pPr>
            <a:r>
              <a:rPr lang="ru-RU" altLang="en-US" sz="2200" b="1">
                <a:solidFill>
                  <a:schemeClr val="tx1"/>
                </a:solidFill>
                <a:sym typeface="+mn-ea"/>
              </a:rPr>
              <a:t>Вывод:</a:t>
            </a:r>
            <a:endParaRPr lang="ru-RU" altLang="en-US" sz="2200" b="1">
              <a:solidFill>
                <a:schemeClr val="tx1"/>
              </a:solidFill>
            </a:endParaRPr>
          </a:p>
          <a:p>
            <a:pPr marL="0" indent="0" algn="l">
              <a:buFont typeface="Arial" panose="0208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sym typeface="+mn-ea"/>
              </a:rPr>
              <a:t>Прогресс достигнут, но фундаментальные проблемы «черного ящика», вариативности данных и мультимодальной интеграции остаются нерешёнными</a:t>
            </a:r>
            <a:endParaRPr lang="ru-RU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368300" y="885825"/>
            <a:ext cx="11762105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400" b="1"/>
              <a:t>Методика исследования</a:t>
            </a:r>
            <a:endParaRPr lang="ru-RU" altLang="en-US" sz="2400" b="1"/>
          </a:p>
          <a:p>
            <a:endParaRPr lang="ru-RU" altLang="en-US"/>
          </a:p>
          <a:p>
            <a:r>
              <a:rPr lang="ru-RU" altLang="en-US" sz="2000" b="1"/>
              <a:t>Подход:</a:t>
            </a:r>
            <a:endParaRPr lang="ru-RU" altLang="en-US" sz="2000" b="1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1900"/>
              <a:t>Систематический литературный обзор и критический анализ нейросетевых архитектур</a:t>
            </a:r>
            <a:endParaRPr lang="ru-RU" altLang="en-US" sz="19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1900"/>
              <a:t>Сравнительный анализ технологий FER, SER, AER и мультимодальных методов</a:t>
            </a:r>
            <a:endParaRPr lang="ru-RU" altLang="en-US" sz="1900"/>
          </a:p>
          <a:p>
            <a:pPr marL="0" indent="0">
              <a:buFont typeface="Arial" panose="02080604020202020204" pitchFamily="34" charset="0"/>
              <a:buNone/>
            </a:pPr>
            <a:endParaRPr lang="ru-RU" altLang="en-US" sz="1900"/>
          </a:p>
          <a:p>
            <a:r>
              <a:rPr lang="ru-RU" altLang="en-US" sz="2000" b="1"/>
              <a:t>Ключевые критерии оценки:</a:t>
            </a:r>
            <a:endParaRPr lang="ru-RU" altLang="en-US" sz="2000" b="1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1900"/>
              <a:t>Точность и стабильность моделей («in-the-wild», шум, окклюзии, вариативность речи, культурная разнородность)</a:t>
            </a:r>
            <a:endParaRPr lang="ru-RU" altLang="en-US" sz="19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1900"/>
              <a:t>Универсальность и обобщаемость на разных датасетах</a:t>
            </a:r>
            <a:endParaRPr lang="ru-RU" altLang="en-US" sz="19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1900"/>
              <a:t>Поддержка мобильных устройств и edge-вычислений</a:t>
            </a:r>
            <a:endParaRPr lang="ru-RU" altLang="en-US" sz="19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1900"/>
              <a:t>Интерпретируемость и прозрачность работы моделей</a:t>
            </a:r>
            <a:endParaRPr lang="ru-RU" altLang="en-US" sz="1900"/>
          </a:p>
          <a:p>
            <a:pPr marL="0" indent="0">
              <a:buFont typeface="Arial" panose="02080604020202020204" pitchFamily="34" charset="0"/>
              <a:buNone/>
            </a:pPr>
            <a:endParaRPr lang="ru-RU" altLang="en-US" sz="1900"/>
          </a:p>
          <a:p>
            <a:r>
              <a:rPr lang="ru-RU" altLang="en-US" sz="2000" b="1"/>
              <a:t>Цель:</a:t>
            </a:r>
            <a:endParaRPr lang="ru-RU" altLang="en-US" sz="2000" b="1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1900"/>
              <a:t>Объективное представление текущего состояния технологий</a:t>
            </a:r>
            <a:endParaRPr lang="ru-RU" altLang="en-US" sz="19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1900"/>
              <a:t>Выявление ключевых вызовов и перспектив для эмоционально-интеллектуальных HCI-систем</a:t>
            </a:r>
            <a:endParaRPr lang="ru-RU" alt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3240" y="897890"/>
            <a:ext cx="11669395" cy="4646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 b="1">
                <a:sym typeface="+mn-ea"/>
              </a:rPr>
              <a:t>Результаты исследования</a:t>
            </a:r>
            <a:endParaRPr sz="2400" b="1">
              <a:sym typeface="+mn-ea"/>
            </a:endParaRPr>
          </a:p>
          <a:p>
            <a:endParaRPr>
              <a:sym typeface="+mn-ea"/>
            </a:endParaRPr>
          </a:p>
          <a:p>
            <a:r>
              <a:rPr sz="2200" b="1">
                <a:sym typeface="+mn-ea"/>
              </a:rPr>
              <a:t>Ключевые выводы:</a:t>
            </a:r>
            <a:endParaRPr sz="2200" b="1"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sz="2000">
                <a:sym typeface="+mn-ea"/>
              </a:rPr>
              <a:t>Разрыв между лабораторными и </a:t>
            </a:r>
            <a:r>
              <a:rPr lang="ru-RU" sz="2000">
                <a:sym typeface="+mn-ea"/>
              </a:rPr>
              <a:t>реальными</a:t>
            </a:r>
            <a:r>
              <a:rPr sz="2000">
                <a:sym typeface="+mn-ea"/>
              </a:rPr>
              <a:t> данными</a:t>
            </a:r>
            <a:r>
              <a:rPr lang="ru-RU" sz="2000">
                <a:sym typeface="+mn-ea"/>
              </a:rPr>
              <a:t> (</a:t>
            </a:r>
            <a:r>
              <a:rPr sz="2000">
                <a:sym typeface="+mn-ea"/>
              </a:rPr>
              <a:t>существенное падение точности всех модальностей</a:t>
            </a:r>
            <a:r>
              <a:rPr lang="ru-RU" sz="2000">
                <a:sym typeface="+mn-ea"/>
              </a:rPr>
              <a:t>)</a:t>
            </a:r>
            <a:endParaRPr lang="ru-RU" sz="2000"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sz="2000">
                <a:sym typeface="+mn-ea"/>
              </a:rPr>
              <a:t>Усложнение архитектур не гарантирует рост качества</a:t>
            </a:r>
            <a:endParaRPr sz="2000"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sz="2000">
                <a:sym typeface="+mn-ea"/>
              </a:rPr>
              <a:t>Семантически обоснованные признаки и параметро-эффективные методы часто превосходят тяжёлые модели</a:t>
            </a:r>
            <a:endParaRPr sz="2000"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sz="2000">
                <a:sym typeface="+mn-ea"/>
              </a:rPr>
              <a:t>Качество и репрезентативность данных важнее архитектуры</a:t>
            </a:r>
            <a:r>
              <a:rPr lang="ru-RU" sz="2000">
                <a:sym typeface="+mn-ea"/>
              </a:rPr>
              <a:t> (</a:t>
            </a:r>
            <a:r>
              <a:rPr sz="2000">
                <a:sym typeface="+mn-ea"/>
              </a:rPr>
              <a:t>дисбаланс классов и культурная предвзятость </a:t>
            </a:r>
            <a:r>
              <a:rPr lang="ru-RU" sz="2000">
                <a:sym typeface="+mn-ea"/>
              </a:rPr>
              <a:t>вызывает </a:t>
            </a:r>
            <a:r>
              <a:rPr sz="2000">
                <a:sym typeface="+mn-ea"/>
              </a:rPr>
              <a:t>систематические ошибки</a:t>
            </a:r>
            <a:r>
              <a:rPr lang="ru-RU" sz="2000">
                <a:sym typeface="+mn-ea"/>
              </a:rPr>
              <a:t>)</a:t>
            </a:r>
            <a:endParaRPr sz="2000">
              <a:sym typeface="+mn-ea"/>
            </a:endParaRPr>
          </a:p>
          <a:p>
            <a:pPr marL="285750" indent="-285750"/>
            <a:endParaRPr>
              <a:sym typeface="+mn-ea"/>
            </a:endParaRPr>
          </a:p>
          <a:p>
            <a:r>
              <a:rPr sz="2200" b="1">
                <a:sym typeface="+mn-ea"/>
              </a:rPr>
              <a:t>Особенности мультимодальности:</a:t>
            </a:r>
            <a:endParaRPr sz="2200" b="1"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sz="2000">
                <a:sym typeface="+mn-ea"/>
              </a:rPr>
              <a:t>Выгода при высоком качестве всех каналов</a:t>
            </a:r>
            <a:endParaRPr sz="2000"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sz="2000">
                <a:sym typeface="+mn-ea"/>
              </a:rPr>
              <a:t>Слабая модальность может ухудшать итоговый результат</a:t>
            </a:r>
            <a:endParaRPr sz="2000"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sz="2000">
                <a:sym typeface="+mn-ea"/>
              </a:rPr>
              <a:t>Требуются адаптивные схемы фьюжна и контроль вкладов каждого канала</a:t>
            </a:r>
            <a:endParaRPr sz="2000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523240" y="897890"/>
            <a:ext cx="11668760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 b="1">
                <a:sym typeface="+mn-ea"/>
              </a:rPr>
              <a:t>Результаты исследования</a:t>
            </a:r>
            <a:endParaRPr sz="2400" b="1">
              <a:sym typeface="+mn-ea"/>
            </a:endParaRPr>
          </a:p>
          <a:p>
            <a:endParaRPr lang="ru-RU" altLang="en-US"/>
          </a:p>
          <a:p>
            <a:r>
              <a:rPr lang="ru-RU" altLang="en-US" sz="2200" b="1"/>
              <a:t>Практическая значимость:</a:t>
            </a:r>
            <a:endParaRPr lang="ru-RU" altLang="en-US" sz="2200" b="1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000"/>
              <a:t>Визуальные системы: семантически богатые лицевые признаки</a:t>
            </a:r>
            <a:endParaRPr lang="ru-RU" altLang="en-US" sz="200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000"/>
              <a:t>Аудио: адаптация к шуму и самообучение на больших корпусах</a:t>
            </a:r>
            <a:endParaRPr lang="ru-RU" altLang="en-US" sz="200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000"/>
              <a:t>Текст: лёгкие методы адаптации к домену</a:t>
            </a:r>
            <a:endParaRPr lang="ru-RU" altLang="en-US" sz="200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000"/>
              <a:t>Мультимодальные системы: модульная структура + интеграция MLLM для интерпретируемости</a:t>
            </a:r>
            <a:endParaRPr lang="ru-RU" altLang="en-US" sz="2000"/>
          </a:p>
          <a:p>
            <a:pPr marL="285750" indent="-285750"/>
            <a:endParaRPr lang="ru-RU" altLang="en-US"/>
          </a:p>
          <a:p>
            <a:r>
              <a:rPr lang="ru-RU" altLang="en-US" sz="2200" b="1"/>
              <a:t>Перспективы развития:</a:t>
            </a:r>
            <a:endParaRPr lang="ru-RU" altLang="en-US" sz="2200" b="1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000"/>
              <a:t>Оптимизация моделей для мобильных устройств и реального времени</a:t>
            </a:r>
            <a:endParaRPr lang="ru-RU" altLang="en-US" sz="200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000"/>
              <a:t>Использование психологически валидированных теорий эмоций</a:t>
            </a:r>
            <a:endParaRPr lang="ru-RU" altLang="en-US" sz="200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000"/>
              <a:t>Расширение самообучения</a:t>
            </a:r>
            <a:endParaRPr lang="ru-RU" altLang="en-US" sz="200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ru-RU" altLang="en-US" sz="2000"/>
              <a:t>Мультимодальные языковые модели для контекстного и когнитивного распознавания эмоций</a:t>
            </a:r>
            <a:endParaRPr lang="ru-RU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3240" y="897890"/>
            <a:ext cx="11668760" cy="43694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400" b="1"/>
              <a:t>Заключение</a:t>
            </a:r>
            <a:endParaRPr lang="ru-RU" altLang="en-US" sz="2400" b="1"/>
          </a:p>
          <a:p>
            <a:endParaRPr lang="ru-RU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2400"/>
              <a:t>Проведён комплексный анализ технологий распознавания эмоций</a:t>
            </a:r>
            <a:endParaRPr lang="ru-RU" altLang="en-US" sz="2400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ru-RU" altLang="en-US" sz="24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2400"/>
              <a:t>Выявлены ключевые проблемы: падение качества «in-the-wild», чувствительность к шуму, окклюзиям, дисбаланс классов и культурная предвзятость</a:t>
            </a:r>
            <a:endParaRPr lang="ru-RU" altLang="en-US" sz="2400"/>
          </a:p>
          <a:p>
            <a:pPr marL="0" indent="0">
              <a:buFont typeface="Arial" panose="02080604020202020204" pitchFamily="34" charset="0"/>
              <a:buNone/>
            </a:pPr>
            <a:endParaRPr lang="ru-RU" altLang="en-US" sz="24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ru-RU" altLang="en-US" sz="2400"/>
              <a:t>Сформулированы основные направления развития информационных технологий распознования эмоций для </a:t>
            </a:r>
            <a:r>
              <a:rPr lang="en-US" altLang="ru-RU" sz="2400"/>
              <a:t>HCI: </a:t>
            </a:r>
            <a:r>
              <a:rPr lang="ru-RU" altLang="en-US" sz="2400"/>
              <a:t>компактные модели для мобильных и реального времени, использование психологически обоснованных структур эмоций, параметро-эффективная адаптация, интеграция мультимодальных языковых моделей с интерпретируемым аффективным рассуждением</a:t>
            </a:r>
            <a:endParaRPr lang="ru-RU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97253" y="2734113"/>
            <a:ext cx="3797493" cy="138977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487900" y="1233933"/>
            <a:ext cx="11210100" cy="74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Публикации автора</a:t>
            </a:r>
            <a:endParaRPr sz="28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 М. Д. Дипломная работа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523460" y="2535827"/>
            <a:ext cx="8858467" cy="20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 М. Д.</a:t>
            </a:r>
            <a:r>
              <a:rPr lang="ru-RU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Использование сред моделирования в процессе изучения робототехники и алгоритмов машинного обучения / М.Д. Бушлякова // Инновационные подходы к обучению физике, математике, информатике : материалы </a:t>
            </a:r>
            <a:r>
              <a:rPr lang="ru-RU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Междунар</a:t>
            </a:r>
            <a:r>
              <a:rPr lang="ru-RU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студ. науч.-практ. </a:t>
            </a:r>
            <a:r>
              <a:rPr lang="ru-RU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конф</a:t>
            </a:r>
            <a:r>
              <a:rPr lang="ru-RU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., г. Минск, 27 марта 2025 г. / Белорус. гос. пед. ун-т им. М. Танка; </a:t>
            </a:r>
            <a:r>
              <a:rPr lang="ru-RU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редкол</a:t>
            </a:r>
            <a:r>
              <a:rPr lang="ru-RU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В. В. </a:t>
            </a:r>
            <a:r>
              <a:rPr lang="ru-RU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Радыгина</a:t>
            </a:r>
            <a:r>
              <a:rPr lang="ru-RU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А. А. </a:t>
            </a:r>
            <a:r>
              <a:rPr lang="ru-RU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Францкевич</a:t>
            </a:r>
            <a:r>
              <a:rPr lang="ru-RU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(отв. ред.) [и др.]. – Минск : БГПУ, 2025. </a:t>
            </a:r>
            <a:endParaRPr lang="en-US" altLang="ru-RU" sz="2000" dirty="0">
              <a:highlight>
                <a:srgbClr val="FFFF00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l="58697"/>
          <a:stretch>
            <a:fillRect/>
          </a:stretch>
        </p:blipFill>
        <p:spPr>
          <a:xfrm>
            <a:off x="9556231" y="2451424"/>
            <a:ext cx="2298530" cy="2902074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Управляющая кнопка: домашняя 1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 panose="020B0604020202020204"/>
              <a:buNone/>
            </a:pPr>
            <a:r>
              <a:rPr sz="1900">
                <a:sym typeface="+mn-ea"/>
              </a:rPr>
              <a:t>СОВРЕМЕННЫЕ ИНФОРМАЦИОННЫЕ ТЕХНОЛОГИИ РАСПОЗНАВАНИЯ ЭМОЦИЙ В ЧЕЛОВЕКО-КОМПЬЮТЕРНОМ ВЗАИМОДЕЙСТВИИ</a:t>
            </a:r>
            <a:br>
              <a:rPr sz="1900">
                <a:sym typeface="+mn-ea"/>
              </a:rPr>
            </a:br>
            <a:endParaRPr lang="ru-RU" sz="19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Бушлякова. М. Д. 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23240" y="6459220"/>
            <a:ext cx="116693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1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3240" y="2975610"/>
            <a:ext cx="1166876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 sz="3000"/>
              <a:t>СПАСИБО ЗА ВНИМАНИЕ</a:t>
            </a:r>
            <a:endParaRPr lang="ru-RU" altLang="en-US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10137</Words>
  <Application>WPS Presentation</Application>
  <PresentationFormat>Широкоэкранный</PresentationFormat>
  <Paragraphs>357</Paragraphs>
  <Slides>17</Slides>
  <Notes>19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SimSun</vt:lpstr>
      <vt:lpstr>Wingdings</vt:lpstr>
      <vt:lpstr>Arial</vt:lpstr>
      <vt:lpstr>Nimbus Roman No9 L</vt:lpstr>
      <vt:lpstr>Calibri</vt:lpstr>
      <vt:lpstr>DejaVu Sans</vt:lpstr>
      <vt:lpstr>Segoe UI Light</vt:lpstr>
      <vt:lpstr>Times New Roman</vt:lpstr>
      <vt:lpstr>Times New Roman</vt:lpstr>
      <vt:lpstr>FreeSans</vt:lpstr>
      <vt:lpstr>Microsoft YaHei</vt:lpstr>
      <vt:lpstr>Droid Sans Fallback</vt:lpstr>
      <vt:lpstr>Arial Unicode MS</vt:lpstr>
      <vt:lpstr>OpenSymbol</vt:lpstr>
      <vt:lpstr>Тема Office</vt:lpstr>
      <vt:lpstr>СОВРЕМЕННЫЕ ИНФОРМАЦИОННЫЕ ТЕХНОЛОГИИ РАСПОЗНАВАНИЯ ЭМОЦИЙ В ЧЕЛОВЕКО-КОМПЬЮТЕРНОМ ВЗАИМОДЕЙСТВИИ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СОВРЕМЕННЫЕ ИНФОРМАЦИОННЫЕ ТЕХНОЛОГИИ РАСПОЗНАВАНИЯ ЭМОЦИЙ В ЧЕЛОВЕКО-КОМПЬЮТЕРНОМ ВЗАИМОДЕЙСТВИИ </vt:lpstr>
      <vt:lpstr>PowerPoint 演示文稿</vt:lpstr>
      <vt:lpstr>СОВРЕМЕННЫЕ ИНФОРМАЦИОННЫЕ ТЕХНОЛОГИИ РАСПОЗНАВАНИЯ ЭМОЦИЙ В ЧЕЛОВЕКО-КОМПЬЮТЕРНОМ ВЗАИМОДЕЙСТВИИ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НАВИГАЦИИ И ДВИЖЕНИЯ МОБИЛЬНОГО РОБОТА В НЕИЗВЕСТНЫХ ЛАБИРИНТАХ</dc:title>
  <dc:creator>Dima</dc:creator>
  <cp:lastModifiedBy>margo</cp:lastModifiedBy>
  <cp:revision>45</cp:revision>
  <dcterms:created xsi:type="dcterms:W3CDTF">2025-11-20T19:33:41Z</dcterms:created>
  <dcterms:modified xsi:type="dcterms:W3CDTF">2025-11-20T19:33:41Z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1049-11.1.0.11723</vt:lpwstr>
  </property>
</Properties>
</file>